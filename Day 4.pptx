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4" r:id="rId6"/>
    <p:sldId id="261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23EF9F-BDCC-49D8-8DA4-927617949F23}" v="13" dt="2026-08-17T15:06:26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5B1F-3BAC-4B69-54EA-F8B124CCC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F3CC1-A37B-C233-6401-F73E03093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1E26-FD3E-0CB6-4BD1-D0F6276E5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5E8F1-6DB7-CB56-1D79-45FFDD7E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CDD18-503D-1831-B654-AEF078D4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20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845E-4DE2-799F-5657-84E6CC48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7F30A-0E7B-099F-18D4-66021B45D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F8625-50A2-861C-8796-EBA1E1E3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7FA35-F3B0-42FE-E30C-8353D75A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32081-8BFC-E6F0-7F7A-2B37D3ED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953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33ED-2EDD-9C9E-67A3-0943F155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374AD-145D-0BD8-7E39-AAB929FCB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D572A-507A-5A93-D7BE-9FB2EF88F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AE86E-085D-60F0-0BDF-3DF81E74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078D3-18C6-A264-BE5D-F80619F89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858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1BB43-D5A1-90FF-A7D7-9203B4848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CB4E-FCC3-88CB-3FFB-5E53D376D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2832A-69E0-C3FE-B989-212ACFEAA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079E6-DB44-3A14-A0C5-927CDDE9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3E49A-7A34-1AEE-CEC0-1DC314BEA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9C65A-5545-E8F5-F893-138576FB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292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F97B-4395-FFBA-D82C-0B681EC64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B3B52-E5C9-A1C6-CFA1-8D11F4987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60821-B9D7-FDF9-E651-5D2224B82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B4C616-8E8A-347C-D660-71C0BD6F2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93114-3D84-4C72-3BC4-44B5996A15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6B5FAF-66E0-E45F-2D4A-1EA2EC49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141B1-9069-86D1-D1DB-317A7AD2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4CED5-7F48-1B2C-0BE1-F578DBA5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62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ADF6-385F-9265-1D2D-CF1504DF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74CAA9-5C1D-1E03-E443-C09B7303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11DAD-D30F-2029-865C-AEEF901CD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A94CB-C291-35AF-0B28-D153C7A9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29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A26264-61FE-FF9C-B844-3FAF16E2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108F6-F50F-B10D-3189-66BED4F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1BA60-8D53-C482-B24E-10F63FA1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843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15FD-F1E6-17A2-B5B0-3F39B4B21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B95CE-DC59-8B8C-00B2-37321F075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66AC5-286B-0E42-573E-072CBC909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8C131-DD62-E0D5-BE44-8D627381D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84D9F-5764-5933-0FC8-D01B87A0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D6888-8EC8-6036-D95C-FF3292643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08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008D9-AC4B-7BEE-D3AB-83FBD8EE5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55D84F-224D-1830-9283-B4AF29E0F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6AD9A-8F9B-433F-AD5C-4C2780151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20D3A-8C4F-633D-71DF-79DF4EC7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2AE08-1958-8295-B5D8-F0783297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28A1A-7E47-6EB6-2EDA-A7BB21CC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45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F099-1463-555E-2CCE-8658C0D22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AAC9F-7EC2-3796-C18A-31ACC8367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2A097-A736-352B-FBB2-32AD87561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207AE-FA91-9FC8-B1BF-10DB654D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C690-2540-DCE8-99F6-476FFC63A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631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E841AA-E5E1-92F3-8947-3313B060CA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219B1-4EDB-1BD5-EF02-BA0694BD5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7ADA4-83CE-BF49-6403-836AFD8F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57D53-32C1-8BC0-D185-027DB5AC0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5B84C-60EF-5D1D-B00E-B54DD313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916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74E5AE-23F8-8788-EBF6-845E81002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EAD09-89BB-FC30-7430-7C6979E4D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5793E-0401-B215-5C63-04E1603E9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D551F2-73C5-4E55-9192-FEC72EB552F4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E966B-0687-2607-3FFB-9418523B0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368B-FB56-28C7-C1EA-29BECAC8A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081D2-5841-449A-8BA6-CFA925187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92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19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CFCE8-30FF-8AF3-217D-301D17CEE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Lab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7722B-BCFD-7281-28AB-A47564007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dirty="0"/>
              <a:t>MEG Source level analysis </a:t>
            </a:r>
          </a:p>
        </p:txBody>
      </p:sp>
    </p:spTree>
    <p:extLst>
      <p:ext uri="{BB962C8B-B14F-4D97-AF65-F5344CB8AC3E}">
        <p14:creationId xmlns:p14="http://schemas.microsoft.com/office/powerpoint/2010/main" val="90172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84B44-FDB4-A30B-55C1-A1E370A9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EEG vs MEG the differences and similarities </a:t>
            </a:r>
          </a:p>
        </p:txBody>
      </p:sp>
      <p:pic>
        <p:nvPicPr>
          <p:cNvPr id="6" name="Picture 5" descr="EEG Brain Function Measurement - Health Research, Inc.">
            <a:extLst>
              <a:ext uri="{FF2B5EF4-FFF2-40B4-BE49-F238E27FC236}">
                <a16:creationId xmlns:a16="http://schemas.microsoft.com/office/drawing/2014/main" id="{074D357B-C493-C0CD-0B9F-97DE5828C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653746"/>
            <a:ext cx="5131088" cy="3052997"/>
          </a:xfrm>
          <a:prstGeom prst="rect">
            <a:avLst/>
          </a:prstGeom>
        </p:spPr>
      </p:pic>
      <p:pic>
        <p:nvPicPr>
          <p:cNvPr id="4" name="Picture 3" descr="electromagnetism - Why does the right hand rule work for determining the  direction of magnetic field around a straight current carrying wire? -  Physics Stack Exchange">
            <a:extLst>
              <a:ext uri="{FF2B5EF4-FFF2-40B4-BE49-F238E27FC236}">
                <a16:creationId xmlns:a16="http://schemas.microsoft.com/office/drawing/2014/main" id="{7F5F48F2-DC08-CC84-0838-F4425816B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17815"/>
            <a:ext cx="4780015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7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B6656-656B-7E3E-1288-ED91A5DF9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EEG configuration setup </a:t>
            </a:r>
          </a:p>
        </p:txBody>
      </p:sp>
      <p:pic>
        <p:nvPicPr>
          <p:cNvPr id="4" name="Picture 3" descr="10–20 system (EEG) - Wikipedia">
            <a:extLst>
              <a:ext uri="{FF2B5EF4-FFF2-40B4-BE49-F238E27FC236}">
                <a16:creationId xmlns:a16="http://schemas.microsoft.com/office/drawing/2014/main" id="{B96C0790-B914-63D8-4BF7-EEB2C42C6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116" y="2181426"/>
            <a:ext cx="4460720" cy="3997637"/>
          </a:xfrm>
          <a:prstGeom prst="rect">
            <a:avLst/>
          </a:prstGeom>
        </p:spPr>
      </p:pic>
      <p:pic>
        <p:nvPicPr>
          <p:cNvPr id="5" name="Picture 4" descr="Standard 10–10 EEG electrode configuration. Selected electrodes from... |  Download Scientific Diagram">
            <a:extLst>
              <a:ext uri="{FF2B5EF4-FFF2-40B4-BE49-F238E27FC236}">
                <a16:creationId xmlns:a16="http://schemas.microsoft.com/office/drawing/2014/main" id="{196981F8-2161-F918-8627-A5452589B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17815"/>
            <a:ext cx="4017920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83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Elekta Neuromag MEG channel positions. Channels corresponding to different lobes are color- coded (figure adapted from www.megwiki.org , best viewed under zoom). ">
            <a:extLst>
              <a:ext uri="{FF2B5EF4-FFF2-40B4-BE49-F238E27FC236}">
                <a16:creationId xmlns:a16="http://schemas.microsoft.com/office/drawing/2014/main" id="{1742B96A-4F4E-8A26-7F50-77BA9D383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29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00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76192D-21D7-6C4A-BB71-8A091397A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34" y="643467"/>
            <a:ext cx="5087731" cy="5571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0C281A-7C99-53D0-7EB2-946D6DD4C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120" y="643467"/>
            <a:ext cx="5150446" cy="557106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5F89944-7CE3-F3D2-A29E-EB059C796F24}"/>
              </a:ext>
            </a:extLst>
          </p:cNvPr>
          <p:cNvSpPr/>
          <p:nvPr/>
        </p:nvSpPr>
        <p:spPr>
          <a:xfrm>
            <a:off x="2861187" y="786581"/>
            <a:ext cx="953729" cy="69809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0BBAB8-BC1C-8358-CA8D-5AFC915B795E}"/>
              </a:ext>
            </a:extLst>
          </p:cNvPr>
          <p:cNvSpPr/>
          <p:nvPr/>
        </p:nvSpPr>
        <p:spPr>
          <a:xfrm>
            <a:off x="8480323" y="938981"/>
            <a:ext cx="953729" cy="69809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412804-8C9F-0E0E-E6D9-244FCDE8F176}"/>
              </a:ext>
            </a:extLst>
          </p:cNvPr>
          <p:cNvSpPr txBox="1"/>
          <p:nvPr/>
        </p:nvSpPr>
        <p:spPr>
          <a:xfrm>
            <a:off x="835742" y="629664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0" u="none" strike="noStrike" dirty="0">
                <a:effectLst/>
                <a:latin typeface="Google Sans"/>
              </a:rPr>
              <a:t>Total magnetic field (T))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70454-E25C-4C18-EC5C-1937DC1A3142}"/>
              </a:ext>
            </a:extLst>
          </p:cNvPr>
          <p:cNvSpPr txBox="1"/>
          <p:nvPr/>
        </p:nvSpPr>
        <p:spPr>
          <a:xfrm>
            <a:off x="6841434" y="629664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0" u="none" strike="noStrike" dirty="0">
                <a:effectLst/>
                <a:latin typeface="Google Sans"/>
              </a:rPr>
              <a:t>Field gradient (T/m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49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175C4-98FD-7C26-3494-73106836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GB" sz="5400"/>
              <a:t>Waves and their meanings</a:t>
            </a:r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E98D-8637-419F-3102-358428E27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lvl="0"/>
            <a:r>
              <a:rPr lang="en-GB" sz="2000" b="1" dirty="0"/>
              <a:t>Delta (0.1–4 Hz):</a:t>
            </a:r>
            <a:r>
              <a:rPr lang="en-GB" sz="2000" dirty="0"/>
              <a:t> Deep, dreamless sleep and unconscious processing — the brain's "1st gear."</a:t>
            </a:r>
          </a:p>
          <a:p>
            <a:pPr lvl="0"/>
            <a:r>
              <a:rPr lang="en-GB" sz="2000" b="1" dirty="0"/>
              <a:t>Theta (3.5–7.5 Hz):</a:t>
            </a:r>
            <a:r>
              <a:rPr lang="en-GB" sz="2000" dirty="0"/>
              <a:t> Creativity, intuition, daydreaming, and the drowsy border between wakefulness and sleep.</a:t>
            </a:r>
          </a:p>
          <a:p>
            <a:pPr lvl="0"/>
            <a:r>
              <a:rPr lang="en-GB" sz="2000" b="1" dirty="0"/>
              <a:t>Alpha (8–12 Hz):</a:t>
            </a:r>
            <a:r>
              <a:rPr lang="en-GB" sz="2000" dirty="0"/>
              <a:t> Calm, relaxed alertness that bridges conscious and subconscious thought — the brain's "neutral" gear.</a:t>
            </a:r>
          </a:p>
          <a:p>
            <a:pPr lvl="0"/>
            <a:r>
              <a:rPr lang="en-GB" sz="2000" b="1" dirty="0"/>
              <a:t>Beta (13–30 Hz):</a:t>
            </a:r>
            <a:r>
              <a:rPr lang="en-GB" sz="2000" dirty="0"/>
              <a:t> Active, analytical thinking, focus, and alert problem-solving — the brain's "overdrive."</a:t>
            </a:r>
          </a:p>
          <a:p>
            <a:pPr lvl="0"/>
            <a:r>
              <a:rPr lang="en-GB" sz="2000" b="1" dirty="0"/>
              <a:t>Gamma (&gt;30 Hz):</a:t>
            </a:r>
            <a:r>
              <a:rPr lang="en-GB" sz="2000" dirty="0"/>
              <a:t> High-level simultaneous processing linked to sharp memory and peak cognitive integration.</a:t>
            </a:r>
          </a:p>
        </p:txBody>
      </p:sp>
      <p:pic>
        <p:nvPicPr>
          <p:cNvPr id="4" name="Picture 3" descr="Spectral analysis - EEGLAB Wiki">
            <a:extLst>
              <a:ext uri="{FF2B5EF4-FFF2-40B4-BE49-F238E27FC236}">
                <a16:creationId xmlns:a16="http://schemas.microsoft.com/office/drawing/2014/main" id="{6E71DC5F-6DAC-9812-D795-7CABF28582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19" r="-2" b="-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4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C38DB-AB2A-18FE-3071-AB8507B7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Artifacts</a:t>
            </a:r>
          </a:p>
        </p:txBody>
      </p:sp>
      <p:pic>
        <p:nvPicPr>
          <p:cNvPr id="5" name="Picture 4" descr="Comparison of original EEG signal and removal of EOG artifacts. | Download  Scientific Diagram">
            <a:extLst>
              <a:ext uri="{FF2B5EF4-FFF2-40B4-BE49-F238E27FC236}">
                <a16:creationId xmlns:a16="http://schemas.microsoft.com/office/drawing/2014/main" id="{A2566376-1A35-3964-1CCB-B2C981A47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42" y="2181426"/>
            <a:ext cx="5048893" cy="39976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B90027-A04B-69B7-3760-1EFA7C6B2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17815"/>
            <a:ext cx="3014364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03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52BBB9-69A8-405C-9209-A9FE217AE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BA8247A-9874-4F57-82F4-AEB016E66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0C3CE4-8479-4B6E-9C21-D7B0CD89E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7BCD297-22FC-4ECD-95DC-8581D5E6B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61A25F1-8873-4D98-B8D5-169EA0AC9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7BCAD9-3EF1-4FCE-AFA0-BD2C545A7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6649524-3638-4334-8ED6-539D10DF4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806FA8-08EC-6E40-6546-CECE47E0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84915"/>
            <a:ext cx="4651076" cy="1951075"/>
          </a:xfrm>
          <a:noFill/>
        </p:spPr>
        <p:txBody>
          <a:bodyPr anchor="t">
            <a:normAutofit/>
          </a:bodyPr>
          <a:lstStyle/>
          <a:p>
            <a:r>
              <a:rPr lang="en-GB" sz="4800">
                <a:solidFill>
                  <a:schemeClr val="bg1"/>
                </a:solidFill>
              </a:rPr>
              <a:t>Lab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8C296-4389-0949-BFFF-7477FB71B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684921"/>
            <a:ext cx="5674107" cy="1951087"/>
          </a:xfrm>
          <a:noFill/>
        </p:spPr>
        <p:txBody>
          <a:bodyPr anchor="t">
            <a:normAutofit/>
          </a:bodyPr>
          <a:lstStyle/>
          <a:p>
            <a:r>
              <a:rPr lang="en-GB" sz="1700">
                <a:solidFill>
                  <a:schemeClr val="bg1"/>
                </a:solidFill>
              </a:rPr>
              <a:t>Run through the code.</a:t>
            </a:r>
          </a:p>
          <a:p>
            <a:r>
              <a:rPr lang="en-GB" sz="1700">
                <a:solidFill>
                  <a:schemeClr val="bg1"/>
                </a:solidFill>
              </a:rPr>
              <a:t>Understand your inputs the formats and what they mean.</a:t>
            </a:r>
          </a:p>
          <a:p>
            <a:r>
              <a:rPr lang="en-GB" sz="1700">
                <a:solidFill>
                  <a:schemeClr val="bg1"/>
                </a:solidFill>
              </a:rPr>
              <a:t>Learn the basic technics on how to do basic processing. </a:t>
            </a:r>
          </a:p>
          <a:p>
            <a:r>
              <a:rPr lang="en-GB" sz="1700">
                <a:solidFill>
                  <a:schemeClr val="bg1"/>
                </a:solidFill>
              </a:rPr>
              <a:t>Doing some source level analysis.</a:t>
            </a:r>
          </a:p>
          <a:p>
            <a:endParaRPr lang="en-GB" sz="1700">
              <a:solidFill>
                <a:schemeClr val="bg1"/>
              </a:solidFill>
            </a:endParaRPr>
          </a:p>
          <a:p>
            <a:endParaRPr lang="en-GB" sz="170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6E42DB7-69D8-C80E-2798-23542C4EBA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3782"/>
          <a:stretch>
            <a:fillRect/>
          </a:stretch>
        </p:blipFill>
        <p:spPr>
          <a:xfrm>
            <a:off x="629638" y="2708781"/>
            <a:ext cx="10848063" cy="3496632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2852760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7594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f0b9487-4fa8-42a8-aeb4-bf2e2c22d4e8}" enabled="0" method="" siteId="{6f0b9487-4fa8-42a8-aeb4-bf2e2c22d4e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167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Google Sans</vt:lpstr>
      <vt:lpstr>Office Theme</vt:lpstr>
      <vt:lpstr>Lab 4</vt:lpstr>
      <vt:lpstr>EEG vs MEG the differences and similarities </vt:lpstr>
      <vt:lpstr>EEG configuration setup </vt:lpstr>
      <vt:lpstr>PowerPoint Presentation</vt:lpstr>
      <vt:lpstr>PowerPoint Presentation</vt:lpstr>
      <vt:lpstr>Waves and their meanings</vt:lpstr>
      <vt:lpstr>Artifacts</vt:lpstr>
      <vt:lpstr>Lab today</vt:lpstr>
    </vt:vector>
  </TitlesOfParts>
  <Company>Ulster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Butler</dc:creator>
  <cp:lastModifiedBy>Mark Butler</cp:lastModifiedBy>
  <cp:revision>2</cp:revision>
  <dcterms:created xsi:type="dcterms:W3CDTF">2026-08-13T11:59:36Z</dcterms:created>
  <dcterms:modified xsi:type="dcterms:W3CDTF">2026-08-17T16:57:38Z</dcterms:modified>
</cp:coreProperties>
</file>